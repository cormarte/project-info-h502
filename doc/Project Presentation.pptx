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27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6061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426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3775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098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495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473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746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935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428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853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30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71EDC-74D4-4701-A1A0-A8E794F2E11D}" type="datetimeFigureOut">
              <a:rPr lang="fr-BE" smtClean="0"/>
              <a:t>11-11-15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297C9-9D24-4085-996C-9C92AC6F748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8476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INFO-H502 Project</a:t>
            </a:r>
            <a:endParaRPr lang="fr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5130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68" y="186172"/>
            <a:ext cx="3966723" cy="28058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43" y="169476"/>
            <a:ext cx="10515600" cy="1325563"/>
          </a:xfrm>
        </p:spPr>
        <p:txBody>
          <a:bodyPr/>
          <a:lstStyle/>
          <a:p>
            <a:r>
              <a:rPr lang="en-US" b="1" dirty="0" smtClean="0"/>
              <a:t>Biomed students</a:t>
            </a:r>
            <a:endParaRPr lang="fr-BE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137" y="2327564"/>
            <a:ext cx="4413627" cy="248266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81" y="1589088"/>
            <a:ext cx="3796105" cy="24299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81" y="4120687"/>
            <a:ext cx="3796105" cy="21346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69466" y="6052216"/>
            <a:ext cx="3536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Glowing effect (wax/marble effect)</a:t>
            </a:r>
            <a:endParaRPr lang="fr-BE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969466" y="5562750"/>
            <a:ext cx="4601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Environmental map (baby is slightly reflective)</a:t>
            </a:r>
            <a:endParaRPr lang="fr-BE" b="1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4245428" y="4694349"/>
            <a:ext cx="818408" cy="868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2605314" y="4648975"/>
            <a:ext cx="2364152" cy="14677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79964" y="4994896"/>
            <a:ext cx="35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Bezier/NURBS surface elastic tissue</a:t>
            </a:r>
            <a:endParaRPr lang="fr-BE" b="1" dirty="0"/>
          </a:p>
        </p:txBody>
      </p:sp>
      <p:cxnSp>
        <p:nvCxnSpPr>
          <p:cNvPr id="22" name="Straight Arrow Connector 21"/>
          <p:cNvCxnSpPr>
            <a:stCxn id="21" idx="0"/>
          </p:cNvCxnSpPr>
          <p:nvPr/>
        </p:nvCxnSpPr>
        <p:spPr>
          <a:xfrm flipV="1">
            <a:off x="6759202" y="3657600"/>
            <a:ext cx="202707" cy="13372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71295" y="315372"/>
            <a:ext cx="257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First steps towards an anatomical simulator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47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3D model</a:t>
            </a:r>
            <a:endParaRPr lang="fr-BE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109" y="295811"/>
            <a:ext cx="6206836" cy="613962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976746" y="2209206"/>
            <a:ext cx="3740729" cy="3923747"/>
            <a:chOff x="3449782" y="1904406"/>
            <a:chExt cx="3740729" cy="392374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8800" y="1904406"/>
              <a:ext cx="1831710" cy="198765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3979" y="1904406"/>
              <a:ext cx="1601614" cy="198765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9782" y="3996443"/>
              <a:ext cx="1819015" cy="1815432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8801" y="3996443"/>
              <a:ext cx="1831710" cy="183171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5358800" y="3522727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3D mesh</a:t>
              </a:r>
              <a:endParaRPr lang="fr-BE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49782" y="3996443"/>
              <a:ext cx="1175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2D texture</a:t>
              </a:r>
              <a:endParaRPr lang="fr-BE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58800" y="3996443"/>
              <a:ext cx="1468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Bump texture</a:t>
              </a:r>
              <a:endParaRPr lang="fr-BE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1359635" y="2334187"/>
            <a:ext cx="810490" cy="82434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Rectangle 12"/>
          <p:cNvSpPr/>
          <p:nvPr/>
        </p:nvSpPr>
        <p:spPr>
          <a:xfrm>
            <a:off x="1204076" y="5230952"/>
            <a:ext cx="513887" cy="551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Rectangle 13"/>
          <p:cNvSpPr/>
          <p:nvPr/>
        </p:nvSpPr>
        <p:spPr>
          <a:xfrm>
            <a:off x="3133124" y="5230952"/>
            <a:ext cx="513887" cy="551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5" name="Freeform 14"/>
          <p:cNvSpPr/>
          <p:nvPr/>
        </p:nvSpPr>
        <p:spPr>
          <a:xfrm>
            <a:off x="1995055" y="1984175"/>
            <a:ext cx="3990109" cy="436418"/>
          </a:xfrm>
          <a:custGeom>
            <a:avLst/>
            <a:gdLst>
              <a:gd name="connsiteX0" fmla="*/ 0 w 3990109"/>
              <a:gd name="connsiteY0" fmla="*/ 436418 h 436418"/>
              <a:gd name="connsiteX1" fmla="*/ 630382 w 3990109"/>
              <a:gd name="connsiteY1" fmla="*/ 0 h 436418"/>
              <a:gd name="connsiteX2" fmla="*/ 3990109 w 3990109"/>
              <a:gd name="connsiteY2" fmla="*/ 0 h 43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0109" h="436418">
                <a:moveTo>
                  <a:pt x="0" y="436418"/>
                </a:moveTo>
                <a:lnTo>
                  <a:pt x="630382" y="0"/>
                </a:lnTo>
                <a:lnTo>
                  <a:pt x="3990109" y="0"/>
                </a:ln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6" name="Freeform 15"/>
          <p:cNvSpPr/>
          <p:nvPr/>
        </p:nvSpPr>
        <p:spPr>
          <a:xfrm>
            <a:off x="1461019" y="4794534"/>
            <a:ext cx="4932853" cy="436418"/>
          </a:xfrm>
          <a:custGeom>
            <a:avLst/>
            <a:gdLst>
              <a:gd name="connsiteX0" fmla="*/ 0 w 3990109"/>
              <a:gd name="connsiteY0" fmla="*/ 436418 h 436418"/>
              <a:gd name="connsiteX1" fmla="*/ 630382 w 3990109"/>
              <a:gd name="connsiteY1" fmla="*/ 0 h 436418"/>
              <a:gd name="connsiteX2" fmla="*/ 3990109 w 3990109"/>
              <a:gd name="connsiteY2" fmla="*/ 0 h 43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0109" h="436418">
                <a:moveTo>
                  <a:pt x="0" y="436418"/>
                </a:moveTo>
                <a:lnTo>
                  <a:pt x="630382" y="0"/>
                </a:lnTo>
                <a:lnTo>
                  <a:pt x="3990109" y="0"/>
                </a:ln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7" name="Freeform 16"/>
          <p:cNvSpPr/>
          <p:nvPr/>
        </p:nvSpPr>
        <p:spPr>
          <a:xfrm>
            <a:off x="3390068" y="4946073"/>
            <a:ext cx="3343242" cy="284878"/>
          </a:xfrm>
          <a:custGeom>
            <a:avLst/>
            <a:gdLst>
              <a:gd name="connsiteX0" fmla="*/ 0 w 3990109"/>
              <a:gd name="connsiteY0" fmla="*/ 436418 h 436418"/>
              <a:gd name="connsiteX1" fmla="*/ 630382 w 3990109"/>
              <a:gd name="connsiteY1" fmla="*/ 0 h 436418"/>
              <a:gd name="connsiteX2" fmla="*/ 3990109 w 3990109"/>
              <a:gd name="connsiteY2" fmla="*/ 0 h 43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0109" h="436418">
                <a:moveTo>
                  <a:pt x="0" y="436418"/>
                </a:moveTo>
                <a:lnTo>
                  <a:pt x="630382" y="0"/>
                </a:lnTo>
                <a:lnTo>
                  <a:pt x="3990109" y="0"/>
                </a:ln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8" name="TextBox 17"/>
          <p:cNvSpPr txBox="1"/>
          <p:nvPr/>
        </p:nvSpPr>
        <p:spPr>
          <a:xfrm>
            <a:off x="5514109" y="6028183"/>
            <a:ext cx="151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Spherical </a:t>
            </a:r>
            <a:r>
              <a:rPr lang="en-US" dirty="0" smtClean="0">
                <a:solidFill>
                  <a:schemeClr val="bg1"/>
                </a:solidFill>
              </a:rPr>
              <a:t>map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64927" y="1808427"/>
            <a:ext cx="138546" cy="141520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0" name="Oval 19"/>
          <p:cNvSpPr/>
          <p:nvPr/>
        </p:nvSpPr>
        <p:spPr>
          <a:xfrm>
            <a:off x="9894894" y="1753531"/>
            <a:ext cx="138546" cy="141520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Oval 20"/>
          <p:cNvSpPr/>
          <p:nvPr/>
        </p:nvSpPr>
        <p:spPr>
          <a:xfrm>
            <a:off x="8574534" y="1618482"/>
            <a:ext cx="138546" cy="1415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Oval 21"/>
          <p:cNvSpPr/>
          <p:nvPr/>
        </p:nvSpPr>
        <p:spPr>
          <a:xfrm>
            <a:off x="6581898" y="4532029"/>
            <a:ext cx="138546" cy="141520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Oval 22"/>
          <p:cNvSpPr/>
          <p:nvPr/>
        </p:nvSpPr>
        <p:spPr>
          <a:xfrm>
            <a:off x="10141527" y="4599815"/>
            <a:ext cx="138546" cy="141520"/>
          </a:xfrm>
          <a:prstGeom prst="ellips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Oval 23"/>
          <p:cNvSpPr/>
          <p:nvPr/>
        </p:nvSpPr>
        <p:spPr>
          <a:xfrm>
            <a:off x="8478981" y="4875313"/>
            <a:ext cx="138546" cy="1415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5" name="TextBox 24"/>
          <p:cNvSpPr txBox="1"/>
          <p:nvPr/>
        </p:nvSpPr>
        <p:spPr>
          <a:xfrm>
            <a:off x="9435149" y="4756050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6 white light sources</a:t>
            </a:r>
            <a:endParaRPr lang="fr-BE" dirty="0">
              <a:solidFill>
                <a:srgbClr val="FFFF00"/>
              </a:solidFill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6574971" y="3672114"/>
            <a:ext cx="3679372" cy="197614"/>
          </a:xfrm>
          <a:custGeom>
            <a:avLst/>
            <a:gdLst>
              <a:gd name="connsiteX0" fmla="*/ 0 w 3679372"/>
              <a:gd name="connsiteY0" fmla="*/ 0 h 197614"/>
              <a:gd name="connsiteX1" fmla="*/ 798286 w 3679372"/>
              <a:gd name="connsiteY1" fmla="*/ 159657 h 197614"/>
              <a:gd name="connsiteX2" fmla="*/ 1763486 w 3679372"/>
              <a:gd name="connsiteY2" fmla="*/ 195943 h 197614"/>
              <a:gd name="connsiteX3" fmla="*/ 2786743 w 3679372"/>
              <a:gd name="connsiteY3" fmla="*/ 181429 h 197614"/>
              <a:gd name="connsiteX4" fmla="*/ 3679372 w 3679372"/>
              <a:gd name="connsiteY4" fmla="*/ 94343 h 197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372" h="197614">
                <a:moveTo>
                  <a:pt x="0" y="0"/>
                </a:moveTo>
                <a:cubicBezTo>
                  <a:pt x="252186" y="63500"/>
                  <a:pt x="504372" y="127000"/>
                  <a:pt x="798286" y="159657"/>
                </a:cubicBezTo>
                <a:cubicBezTo>
                  <a:pt x="1092200" y="192314"/>
                  <a:pt x="1763486" y="195943"/>
                  <a:pt x="1763486" y="195943"/>
                </a:cubicBezTo>
                <a:cubicBezTo>
                  <a:pt x="2094895" y="199572"/>
                  <a:pt x="2467429" y="198362"/>
                  <a:pt x="2786743" y="181429"/>
                </a:cubicBezTo>
                <a:cubicBezTo>
                  <a:pt x="3106057" y="164496"/>
                  <a:pt x="3392714" y="129419"/>
                  <a:pt x="3679372" y="94343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7380514" y="3827527"/>
            <a:ext cx="0" cy="2378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347199" y="3855214"/>
            <a:ext cx="0" cy="2378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9274627" y="3618740"/>
            <a:ext cx="0" cy="2378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532931" y="3617399"/>
            <a:ext cx="0" cy="2378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499616" y="3796713"/>
            <a:ext cx="175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Open the sphere</a:t>
            </a:r>
            <a:endParaRPr lang="fr-BE" dirty="0">
              <a:solidFill>
                <a:srgbClr val="00B0F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94894" y="2764382"/>
            <a:ext cx="1715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</a:rPr>
              <a:t>Sphere = NURBS</a:t>
            </a:r>
            <a:endParaRPr lang="fr-BE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6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73" y="-359929"/>
            <a:ext cx="10515600" cy="1325563"/>
          </a:xfrm>
        </p:spPr>
        <p:txBody>
          <a:bodyPr/>
          <a:lstStyle/>
          <a:p>
            <a:r>
              <a:rPr lang="en-US" b="1" dirty="0" smtClean="0"/>
              <a:t>Functions</a:t>
            </a:r>
            <a:endParaRPr lang="fr-B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473" y="728805"/>
            <a:ext cx="10515600" cy="61291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Score up to 16:</a:t>
            </a:r>
          </a:p>
          <a:p>
            <a:r>
              <a:rPr lang="en-US" dirty="0" smtClean="0"/>
              <a:t>X, x, Y, y, Z, z = turning the baby around its axes (= Rodriguez)</a:t>
            </a:r>
          </a:p>
          <a:p>
            <a:r>
              <a:rPr lang="en-US" dirty="0" smtClean="0"/>
              <a:t>L,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/>
              <a:t>, R, r, U, u, D, d = move the camera left/right, up/Down</a:t>
            </a:r>
          </a:p>
          <a:p>
            <a:r>
              <a:rPr lang="en-US" dirty="0" smtClean="0"/>
              <a:t>I, O = move camera forward/back, zoon-In/zoom-Out</a:t>
            </a:r>
          </a:p>
          <a:p>
            <a:r>
              <a:rPr lang="en-US" dirty="0" smtClean="0"/>
              <a:t>All above movements with the mouse</a:t>
            </a:r>
          </a:p>
          <a:p>
            <a:r>
              <a:rPr lang="en-US" dirty="0" smtClean="0"/>
              <a:t>Sphere has bump map (cf. Chapter 19 of Fore June’s book)</a:t>
            </a:r>
          </a:p>
          <a:p>
            <a:r>
              <a:rPr lang="en-US" dirty="0" smtClean="0"/>
              <a:t>Baby has a wax/marble effect</a:t>
            </a:r>
          </a:p>
          <a:p>
            <a:r>
              <a:rPr lang="en-US" dirty="0" smtClean="0"/>
              <a:t>Baby and sphere have shininess (= </a:t>
            </a:r>
            <a:r>
              <a:rPr lang="en-US" dirty="0" err="1" smtClean="0"/>
              <a:t>specularity</a:t>
            </a:r>
            <a:r>
              <a:rPr lang="en-US" dirty="0" smtClean="0"/>
              <a:t> in GLSL)</a:t>
            </a:r>
          </a:p>
          <a:p>
            <a:r>
              <a:rPr lang="en-US" dirty="0" smtClean="0"/>
              <a:t>Look inside the sphere without having to cut the sphere (cf. like environmental map)</a:t>
            </a:r>
          </a:p>
          <a:p>
            <a:r>
              <a:rPr lang="en-US" dirty="0" smtClean="0"/>
              <a:t>Look from outside the sphere when sphere is cut</a:t>
            </a:r>
          </a:p>
          <a:p>
            <a:r>
              <a:rPr lang="en-US" dirty="0" smtClean="0"/>
              <a:t>Provide elastic cuts (cf. Bezier, NURBS)</a:t>
            </a:r>
          </a:p>
          <a:p>
            <a:r>
              <a:rPr lang="en-US" dirty="0" smtClean="0"/>
              <a:t>A = Animation, cutting the sphere, gradually open it, rotate the baby in a position such that its head passes through the cut + give a translation to extract the baby</a:t>
            </a:r>
          </a:p>
          <a:p>
            <a:r>
              <a:rPr lang="en-US" dirty="0" smtClean="0"/>
              <a:t>Program as much as possible in OpenGL 3/4 (re-implement deprecated functions e.g. Rodriguez, do lighting/shading in GLSL)</a:t>
            </a:r>
          </a:p>
          <a:p>
            <a:r>
              <a:rPr lang="en-US" dirty="0" smtClean="0"/>
              <a:t>Work in phases, e.g. </a:t>
            </a:r>
            <a:r>
              <a:rPr lang="en-US" dirty="0" err="1" smtClean="0"/>
              <a:t>CubeMap</a:t>
            </a:r>
            <a:r>
              <a:rPr lang="en-US" dirty="0" smtClean="0"/>
              <a:t> with low-resolution baby first, reuse example code (drop unnecessary portions), modify GLSL examples, change one function at a time, etc.</a:t>
            </a:r>
          </a:p>
          <a:p>
            <a:r>
              <a:rPr lang="en-US" dirty="0" smtClean="0"/>
              <a:t>No collision detection needed, i.e. take proper action that the baby passes neatly through the cut.</a:t>
            </a:r>
          </a:p>
          <a:p>
            <a:r>
              <a:rPr lang="en-US" dirty="0" smtClean="0"/>
              <a:t>No raytracing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1811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9657"/>
            <a:ext cx="10515600" cy="1325563"/>
          </a:xfrm>
        </p:spPr>
        <p:txBody>
          <a:bodyPr/>
          <a:lstStyle/>
          <a:p>
            <a:r>
              <a:rPr lang="en-US" b="1" dirty="0" smtClean="0"/>
              <a:t>Raytracing and physics engine</a:t>
            </a:r>
            <a:endParaRPr lang="fr-B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0418" y="1034907"/>
            <a:ext cx="6077857" cy="54176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Score +2:</a:t>
            </a:r>
          </a:p>
          <a:p>
            <a:r>
              <a:rPr lang="en-US" dirty="0" smtClean="0"/>
              <a:t>Replace 3 spheres by baby (low resolution) lying on its back</a:t>
            </a:r>
          </a:p>
          <a:p>
            <a:r>
              <a:rPr lang="en-US" dirty="0" smtClean="0"/>
              <a:t>Baby is now glass</a:t>
            </a:r>
          </a:p>
          <a:p>
            <a:r>
              <a:rPr lang="en-US" dirty="0" smtClean="0"/>
              <a:t>Replace half of the checkerboard by uterus reddish texture (without bump map)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u="sng" dirty="0" smtClean="0"/>
              <a:t>Score +1++:</a:t>
            </a:r>
          </a:p>
          <a:p>
            <a:r>
              <a:rPr lang="en-US" dirty="0" smtClean="0"/>
              <a:t>Drop a tissue on the baby and use a physics engine (collision detection </a:t>
            </a:r>
            <a:r>
              <a:rPr lang="en-US" dirty="0" err="1" smtClean="0"/>
              <a:t>etc</a:t>
            </a:r>
            <a:r>
              <a:rPr lang="en-US" dirty="0" smtClean="0"/>
              <a:t>) to see its deformation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S</a:t>
            </a:r>
            <a:r>
              <a:rPr lang="en-US" u="sng" dirty="0" smtClean="0"/>
              <a:t>core +1++:</a:t>
            </a:r>
          </a:p>
          <a:p>
            <a:r>
              <a:rPr lang="en-US" dirty="0" smtClean="0"/>
              <a:t>Previous + </a:t>
            </a:r>
            <a:r>
              <a:rPr lang="en-US" dirty="0" err="1" smtClean="0"/>
              <a:t>raytrace</a:t>
            </a:r>
            <a:r>
              <a:rPr lang="en-US" dirty="0" smtClean="0"/>
              <a:t> this full scene</a:t>
            </a:r>
            <a:endParaRPr lang="fr-BE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u="sng" dirty="0" smtClean="0"/>
              <a:t>Photonics student:</a:t>
            </a:r>
          </a:p>
          <a:p>
            <a:r>
              <a:rPr lang="en-US" dirty="0" smtClean="0"/>
              <a:t>+3 possible without physics engine, but with impressive raytracing results, i.e. </a:t>
            </a:r>
            <a:r>
              <a:rPr lang="en-US" dirty="0" err="1" smtClean="0"/>
              <a:t>finetuned</a:t>
            </a:r>
            <a:r>
              <a:rPr lang="en-US" dirty="0" smtClean="0"/>
              <a:t> parameters (including mat material) to come close to an effect as in the left picture</a:t>
            </a:r>
            <a:endParaRPr lang="fr-B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34" y="955449"/>
            <a:ext cx="4827082" cy="26594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34" y="3743728"/>
            <a:ext cx="4827082" cy="288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3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382" y="-294627"/>
            <a:ext cx="10515600" cy="1325563"/>
          </a:xfrm>
        </p:spPr>
        <p:txBody>
          <a:bodyPr/>
          <a:lstStyle/>
          <a:p>
            <a:r>
              <a:rPr lang="en-US" b="1" dirty="0" smtClean="0"/>
              <a:t>Computer Science students</a:t>
            </a:r>
            <a:endParaRPr lang="fr-BE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404" y="2486890"/>
            <a:ext cx="5240279" cy="36017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4" y="900545"/>
            <a:ext cx="3849973" cy="1877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1991" y="1631806"/>
            <a:ext cx="4588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/>
              <a:t>Full hierarchy of objects</a:t>
            </a:r>
          </a:p>
          <a:p>
            <a:pPr algn="r"/>
            <a:r>
              <a:rPr lang="en-US" b="1" dirty="0" smtClean="0"/>
              <a:t>+ differentiate (e.g. color) the two players sets</a:t>
            </a:r>
            <a:endParaRPr lang="fr-BE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14254" y="2777836"/>
            <a:ext cx="2632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Support reflective, refractive and classical lighting modes in GLSL</a:t>
            </a:r>
            <a:endParaRPr lang="fr-BE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313936" y="6333245"/>
            <a:ext cx="3148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Bump map the checkerboard</a:t>
            </a:r>
            <a:endParaRPr lang="fr-BE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803032" y="2731669"/>
            <a:ext cx="3148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Support Knights moves</a:t>
            </a:r>
            <a:endParaRPr lang="fr-BE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165609" y="5171067"/>
            <a:ext cx="2094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smtClean="0"/>
              <a:t>Glowing effect</a:t>
            </a:r>
          </a:p>
          <a:p>
            <a:pPr algn="r"/>
            <a:r>
              <a:rPr lang="en-US" b="1" dirty="0" smtClean="0"/>
              <a:t>(wax/marble effect)</a:t>
            </a:r>
            <a:endParaRPr lang="fr-BE" b="1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082636" y="4987636"/>
            <a:ext cx="1530928" cy="242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0"/>
          </p:cNvCxnSpPr>
          <p:nvPr/>
        </p:nvCxnSpPr>
        <p:spPr>
          <a:xfrm flipV="1">
            <a:off x="5888182" y="4894068"/>
            <a:ext cx="0" cy="14391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816436" y="2226108"/>
            <a:ext cx="247555" cy="4478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1"/>
          </p:cNvCxnSpPr>
          <p:nvPr/>
        </p:nvCxnSpPr>
        <p:spPr>
          <a:xfrm flipH="1">
            <a:off x="8049491" y="2916335"/>
            <a:ext cx="753541" cy="1846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3723" y="3995717"/>
            <a:ext cx="3148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Look around with the mouse</a:t>
            </a:r>
            <a:endParaRPr lang="fr-BE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350" y="3508009"/>
            <a:ext cx="419460" cy="50656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03032" y="4894068"/>
            <a:ext cx="3148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Implement the Cook-Torrance lighting mode, with very anisotropic characteristics</a:t>
            </a:r>
            <a:endParaRPr lang="fr-BE" b="1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5237018" y="4495800"/>
            <a:ext cx="3778364" cy="398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251419" y="777373"/>
            <a:ext cx="1596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/>
              <a:t>Score up to 16: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07" y="6211669"/>
            <a:ext cx="3148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/>
              <a:t>All lighting parameters should be easily changed</a:t>
            </a:r>
            <a:endParaRPr lang="fr-BE" b="1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55" y="4990866"/>
            <a:ext cx="794436" cy="172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9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9657"/>
            <a:ext cx="10515600" cy="1325563"/>
          </a:xfrm>
        </p:spPr>
        <p:txBody>
          <a:bodyPr/>
          <a:lstStyle/>
          <a:p>
            <a:r>
              <a:rPr lang="en-US" b="1" dirty="0" smtClean="0"/>
              <a:t>Raytracing and physics engine</a:t>
            </a:r>
            <a:endParaRPr lang="fr-B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0527" y="1364158"/>
            <a:ext cx="6077857" cy="5417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Score +2:</a:t>
            </a:r>
          </a:p>
          <a:p>
            <a:r>
              <a:rPr lang="en-US" sz="2400" dirty="0" smtClean="0"/>
              <a:t>Raytracing with glass chess pieces (no bump mapping)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u="sng" dirty="0" smtClean="0"/>
              <a:t>Score +2:</a:t>
            </a:r>
          </a:p>
          <a:p>
            <a:r>
              <a:rPr lang="en-US" sz="2400" dirty="0" smtClean="0"/>
              <a:t>Bowling ball colliding with the chess pieces (without raytracing), e.g. Bullet Physics engine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Since VUB students have only 4 credits instead of 5, same scores can be obtained with just a couple of pieces on the checkerboard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04" y="1727489"/>
            <a:ext cx="5230315" cy="353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5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564" y="323560"/>
            <a:ext cx="10515600" cy="1325563"/>
          </a:xfrm>
        </p:spPr>
        <p:txBody>
          <a:bodyPr/>
          <a:lstStyle/>
          <a:p>
            <a:r>
              <a:rPr lang="en-US" b="1" dirty="0" smtClean="0"/>
              <a:t>To be provided 2 weeks before </a:t>
            </a:r>
            <a:r>
              <a:rPr lang="en-US" b="1" smtClean="0"/>
              <a:t>the exam</a:t>
            </a:r>
            <a:br>
              <a:rPr lang="en-US" b="1" smtClean="0"/>
            </a:br>
            <a:r>
              <a:rPr lang="en-US" b="1" smtClean="0"/>
              <a:t>(email to gauthier.lafruit@ulb.ac.be)</a:t>
            </a:r>
            <a:endParaRPr lang="fr-B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582" y="2151207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Code and executables</a:t>
            </a:r>
          </a:p>
          <a:p>
            <a:r>
              <a:rPr lang="en-US" sz="3200" dirty="0" smtClean="0"/>
              <a:t>Report (in pdf and/or Microsoft doc): </a:t>
            </a:r>
          </a:p>
          <a:p>
            <a:pPr lvl="1"/>
            <a:r>
              <a:rPr lang="en-US" sz="2800" dirty="0" smtClean="0"/>
              <a:t>Make screen shots of the results (multiple screen shots or even movie capture in case of an animation)</a:t>
            </a:r>
          </a:p>
          <a:p>
            <a:pPr lvl="1"/>
            <a:r>
              <a:rPr lang="en-US" sz="2800" dirty="0"/>
              <a:t>E</a:t>
            </a:r>
            <a:r>
              <a:rPr lang="en-US" sz="2800" dirty="0" smtClean="0"/>
              <a:t>xercises: very shortly answer the questions </a:t>
            </a:r>
          </a:p>
          <a:p>
            <a:pPr lvl="1"/>
            <a:r>
              <a:rPr lang="en-US" sz="2800" dirty="0" smtClean="0"/>
              <a:t>Project: a bit more explanations on the approach and code structure </a:t>
            </a:r>
          </a:p>
          <a:p>
            <a:r>
              <a:rPr lang="en-US" sz="3600" dirty="0" smtClean="0"/>
              <a:t>Be visual</a:t>
            </a:r>
            <a:r>
              <a:rPr lang="fr-BE" sz="3600" dirty="0" smtClean="0"/>
              <a:t> !!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408457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587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INFO-H502 Project</vt:lpstr>
      <vt:lpstr>Biomed students</vt:lpstr>
      <vt:lpstr>3D model</vt:lpstr>
      <vt:lpstr>Functions</vt:lpstr>
      <vt:lpstr>Raytracing and physics engine</vt:lpstr>
      <vt:lpstr>Computer Science students</vt:lpstr>
      <vt:lpstr>Raytracing and physics engine</vt:lpstr>
      <vt:lpstr>To be provided 2 weeks before the exam (email to gauthier.lafruit@ulb.ac.be)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INFO-H502 Project</dc:title>
  <dc:creator>Gauthier Lafruit</dc:creator>
  <cp:lastModifiedBy>Gauthier Lafruit</cp:lastModifiedBy>
  <cp:revision>28</cp:revision>
  <dcterms:created xsi:type="dcterms:W3CDTF">2015-11-11T11:22:58Z</dcterms:created>
  <dcterms:modified xsi:type="dcterms:W3CDTF">2015-11-11T18:14:32Z</dcterms:modified>
</cp:coreProperties>
</file>